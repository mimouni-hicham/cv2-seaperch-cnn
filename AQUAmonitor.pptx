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8" r:id="rId5"/>
    <p:sldId id="261" r:id="rId6"/>
    <p:sldId id="262" r:id="rId7"/>
    <p:sldId id="263" r:id="rId8"/>
    <p:sldId id="264" r:id="rId9"/>
    <p:sldId id="267" r:id="rId10"/>
    <p:sldId id="268" r:id="rId11"/>
    <p:sldId id="269" r:id="rId12"/>
    <p:sldId id="270" r:id="rId13"/>
    <p:sldId id="271" r:id="rId14"/>
    <p:sldId id="274" r:id="rId15"/>
    <p:sldId id="259" r:id="rId16"/>
    <p:sldId id="276" r:id="rId17"/>
    <p:sldId id="275" r:id="rId18"/>
    <p:sldId id="277" r:id="rId19"/>
    <p:sldId id="279" r:id="rId20"/>
    <p:sldId id="28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274"/>
    <a:srgbClr val="1DC9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EA013-6397-4699-961A-B0E41B69DCA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1CEE9-779A-4B70-9815-C8D31DD7D9E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711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EA013-6397-4699-961A-B0E41B69DCA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1CEE9-779A-4B70-9815-C8D31DD7D9E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061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EA013-6397-4699-961A-B0E41B69DCA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1CEE9-779A-4B70-9815-C8D31DD7D9E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835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EA013-6397-4699-961A-B0E41B69DCA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1CEE9-779A-4B70-9815-C8D31DD7D9E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808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EA013-6397-4699-961A-B0E41B69DCA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1CEE9-779A-4B70-9815-C8D31DD7D9E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169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EA013-6397-4699-961A-B0E41B69DCA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1CEE9-779A-4B70-9815-C8D31DD7D9E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94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EA013-6397-4699-961A-B0E41B69DCA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1CEE9-779A-4B70-9815-C8D31DD7D9E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52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EA013-6397-4699-961A-B0E41B69DCA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1CEE9-779A-4B70-9815-C8D31DD7D9E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307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EA013-6397-4699-961A-B0E41B69DCA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1CEE9-779A-4B70-9815-C8D31DD7D9E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998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EA013-6397-4699-961A-B0E41B69DCA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1CEE9-779A-4B70-9815-C8D31DD7D9E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5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EA013-6397-4699-961A-B0E41B69DCA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51CEE9-779A-4B70-9815-C8D31DD7D9E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224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4EA013-6397-4699-961A-B0E41B69DCA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51CEE9-779A-4B70-9815-C8D31DD7D9E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0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87605" y="2378410"/>
            <a:ext cx="11016792" cy="1860272"/>
          </a:xfrm>
        </p:spPr>
        <p:txBody>
          <a:bodyPr>
            <a:noAutofit/>
          </a:bodyPr>
          <a:lstStyle/>
          <a:p>
            <a:r>
              <a:rPr lang="fr-FR" sz="4000" b="1" dirty="0">
                <a:solidFill>
                  <a:srgbClr val="0070C0"/>
                </a:solidFill>
                <a:latin typeface="Bahnschrift Condensed" panose="020B0502040204020203" pitchFamily="34" charset="0"/>
              </a:rPr>
              <a:t>AQUA Monitor </a:t>
            </a:r>
            <a:r>
              <a:rPr lang="fr-FR" sz="4000" dirty="0">
                <a:latin typeface="Bahnschrift Condensed" panose="020B0502040204020203" pitchFamily="34" charset="0"/>
              </a:rPr>
              <a:t>Système Intelligent de Détection et Monitoring Sous-Marin </a:t>
            </a:r>
            <a:r>
              <a:rPr lang="fr-FR" sz="4000" b="1" dirty="0" err="1">
                <a:latin typeface="Bahnschrift Condensed" panose="020B0502040204020203" pitchFamily="34" charset="0"/>
              </a:rPr>
              <a:t>SeaPerch</a:t>
            </a:r>
            <a:endParaRPr lang="en-US" sz="4000" b="1" dirty="0">
              <a:latin typeface="Bahnschrift Condensed" panose="020B0502040204020203" pitchFamily="34" charset="0"/>
            </a:endParaRPr>
          </a:p>
        </p:txBody>
      </p:sp>
      <p:cxnSp>
        <p:nvCxnSpPr>
          <p:cNvPr id="5" name="Connecteur droit 4"/>
          <p:cNvCxnSpPr/>
          <p:nvPr/>
        </p:nvCxnSpPr>
        <p:spPr>
          <a:xfrm flipH="1" flipV="1">
            <a:off x="0" y="2958376"/>
            <a:ext cx="12245420" cy="9428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 flipH="1" flipV="1">
            <a:off x="-2" y="4237115"/>
            <a:ext cx="12192002" cy="18855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5518" y="196724"/>
            <a:ext cx="5046482" cy="813022"/>
          </a:xfrm>
          <a:prstGeom prst="rect">
            <a:avLst/>
          </a:prstGeom>
        </p:spPr>
      </p:pic>
      <p:sp>
        <p:nvSpPr>
          <p:cNvPr id="9" name="Titre 1"/>
          <p:cNvSpPr txBox="1">
            <a:spLocks/>
          </p:cNvSpPr>
          <p:nvPr/>
        </p:nvSpPr>
        <p:spPr>
          <a:xfrm>
            <a:off x="2143027" y="1419163"/>
            <a:ext cx="7170655" cy="15486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400" dirty="0" smtClean="0">
                <a:solidFill>
                  <a:srgbClr val="004274"/>
                </a:solidFill>
                <a:latin typeface="Bahnschrift Condensed" panose="020B0502040204020203" pitchFamily="34" charset="0"/>
              </a:rPr>
              <a:t>Presentation </a:t>
            </a:r>
            <a:r>
              <a:rPr lang="en-US" sz="4400" dirty="0" err="1" smtClean="0">
                <a:solidFill>
                  <a:srgbClr val="004274"/>
                </a:solidFill>
                <a:latin typeface="Bahnschrift Condensed" panose="020B0502040204020203" pitchFamily="34" charset="0"/>
              </a:rPr>
              <a:t>Projet</a:t>
            </a:r>
            <a:r>
              <a:rPr lang="en-US" sz="4400" dirty="0" smtClean="0">
                <a:solidFill>
                  <a:srgbClr val="004274"/>
                </a:solidFill>
                <a:latin typeface="Bahnschrift Condensed" panose="020B0502040204020203" pitchFamily="34" charset="0"/>
              </a:rPr>
              <a:t> Computer Vision </a:t>
            </a:r>
            <a:endParaRPr lang="en-US" sz="4400" dirty="0">
              <a:solidFill>
                <a:srgbClr val="004274"/>
              </a:solidFill>
              <a:latin typeface="Bahnschrift Condensed" panose="020B0502040204020203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400" dirty="0" err="1">
                <a:solidFill>
                  <a:srgbClr val="002060"/>
                </a:solidFill>
                <a:latin typeface="Bahnschrift Condensed" panose="020B0502040204020203" pitchFamily="34" charset="0"/>
              </a:rPr>
              <a:t>filière</a:t>
            </a:r>
            <a:r>
              <a:rPr lang="en-US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 </a:t>
            </a:r>
            <a:r>
              <a:rPr lang="en-US" sz="2400" dirty="0" smtClean="0">
                <a:solidFill>
                  <a:srgbClr val="002060"/>
                </a:solidFill>
                <a:latin typeface="Bahnschrift Condensed" panose="020B0502040204020203" pitchFamily="34" charset="0"/>
              </a:rPr>
              <a:t>: Data science, big </a:t>
            </a:r>
            <a:r>
              <a:rPr lang="en-US" sz="24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data &amp; AI</a:t>
            </a:r>
          </a:p>
          <a:p>
            <a:pPr>
              <a:lnSpc>
                <a:spcPct val="100000"/>
              </a:lnSpc>
            </a:pPr>
            <a:endParaRPr lang="en-US" sz="24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5051283" y="6147626"/>
            <a:ext cx="3827282" cy="62688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2000" dirty="0" smtClean="0">
                <a:solidFill>
                  <a:srgbClr val="002060"/>
                </a:solidFill>
                <a:latin typeface="Bahnschrift Condensed" panose="020B0502040204020203" pitchFamily="34" charset="0"/>
              </a:rPr>
              <a:t>Mardi 2 </a:t>
            </a:r>
            <a:r>
              <a:rPr lang="en-US" sz="2000" dirty="0" err="1" smtClean="0">
                <a:solidFill>
                  <a:srgbClr val="002060"/>
                </a:solidFill>
                <a:latin typeface="Bahnschrift Condensed" panose="020B0502040204020203" pitchFamily="34" charset="0"/>
              </a:rPr>
              <a:t>Décembre</a:t>
            </a:r>
            <a:r>
              <a:rPr lang="en-US" sz="2000" dirty="0" smtClean="0">
                <a:solidFill>
                  <a:srgbClr val="002060"/>
                </a:solidFill>
                <a:latin typeface="Bahnschrift Condensed" panose="020B0502040204020203" pitchFamily="34" charset="0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Bahnschrift Condensed" panose="020B0502040204020203" pitchFamily="34" charset="0"/>
              </a:rPr>
              <a:t>2025</a:t>
            </a:r>
            <a:endParaRPr lang="en-US" sz="2000" dirty="0" smtClean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2" name="Titre 1"/>
          <p:cNvSpPr txBox="1">
            <a:spLocks/>
          </p:cNvSpPr>
          <p:nvPr/>
        </p:nvSpPr>
        <p:spPr>
          <a:xfrm>
            <a:off x="1186383" y="4176600"/>
            <a:ext cx="5901177" cy="20680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250000"/>
              </a:lnSpc>
            </a:pPr>
            <a:r>
              <a:rPr lang="en-US" sz="2400" b="1" dirty="0" err="1">
                <a:solidFill>
                  <a:srgbClr val="0070C0"/>
                </a:solidFill>
                <a:latin typeface="Bahnschrift Condensed" panose="020B0502040204020203" pitchFamily="34" charset="0"/>
              </a:rPr>
              <a:t>Présenté</a:t>
            </a:r>
            <a:r>
              <a:rPr lang="en-US" sz="2400" b="1" dirty="0">
                <a:solidFill>
                  <a:srgbClr val="0070C0"/>
                </a:solidFill>
                <a:latin typeface="Bahnschrift Condensed" panose="020B0502040204020203" pitchFamily="34" charset="0"/>
              </a:rPr>
              <a:t> </a:t>
            </a:r>
            <a:r>
              <a:rPr lang="en-US" sz="2400" b="1" dirty="0" smtClean="0">
                <a:solidFill>
                  <a:srgbClr val="0070C0"/>
                </a:solidFill>
                <a:latin typeface="Bahnschrift Condensed" panose="020B0502040204020203" pitchFamily="34" charset="0"/>
              </a:rPr>
              <a:t>par :</a:t>
            </a:r>
          </a:p>
          <a:p>
            <a:pPr algn="l">
              <a:lnSpc>
                <a:spcPct val="150000"/>
              </a:lnSpc>
            </a:pPr>
            <a:r>
              <a:rPr lang="en-US" sz="2400" dirty="0" err="1" smtClean="0">
                <a:solidFill>
                  <a:srgbClr val="002060"/>
                </a:solidFill>
                <a:latin typeface="Bahnschrift Condensed" panose="020B0502040204020203" pitchFamily="34" charset="0"/>
              </a:rPr>
              <a:t>Groupe</a:t>
            </a:r>
            <a:r>
              <a:rPr lang="en-US" sz="2400" dirty="0" smtClean="0">
                <a:solidFill>
                  <a:srgbClr val="002060"/>
                </a:solidFill>
                <a:latin typeface="Bahnschrift Condensed" panose="020B0502040204020203" pitchFamily="34" charset="0"/>
              </a:rPr>
              <a:t> 1</a:t>
            </a:r>
            <a:endParaRPr lang="en-US" sz="2400" dirty="0" smtClean="0">
              <a:solidFill>
                <a:srgbClr val="002060"/>
              </a:solidFill>
              <a:latin typeface="Bahnschrift Condensed" panose="020B0502040204020203" pitchFamily="34" charset="0"/>
            </a:endParaRPr>
          </a:p>
          <a:p>
            <a:pPr algn="l"/>
            <a:endParaRPr lang="en-US" sz="24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12783" y="4688848"/>
            <a:ext cx="1797287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solidFill>
                  <a:srgbClr val="0070C0"/>
                </a:solidFill>
                <a:latin typeface="Bahnschrift Condensed" panose="020B0502040204020203" pitchFamily="34" charset="0"/>
              </a:rPr>
              <a:t>supervisé</a:t>
            </a:r>
            <a:r>
              <a:rPr lang="en-US" sz="2400" b="1" dirty="0">
                <a:solidFill>
                  <a:srgbClr val="0070C0"/>
                </a:solidFill>
                <a:latin typeface="Bahnschrift Condensed" panose="020B0502040204020203" pitchFamily="34" charset="0"/>
              </a:rPr>
              <a:t> </a:t>
            </a:r>
            <a:r>
              <a:rPr lang="en-US" sz="2400" b="1" dirty="0" smtClean="0">
                <a:solidFill>
                  <a:srgbClr val="0070C0"/>
                </a:solidFill>
                <a:latin typeface="Bahnschrift Condensed" panose="020B0502040204020203" pitchFamily="34" charset="0"/>
              </a:rPr>
              <a:t>par :</a:t>
            </a:r>
          </a:p>
          <a:p>
            <a:endParaRPr lang="en-US" sz="2400" b="1" dirty="0" smtClean="0">
              <a:solidFill>
                <a:srgbClr val="0070C0"/>
              </a:solidFill>
              <a:latin typeface="Bahnschrift Condensed" panose="020B0502040204020203" pitchFamily="34" charset="0"/>
            </a:endParaRPr>
          </a:p>
          <a:p>
            <a:r>
              <a:rPr lang="en-US" sz="2400" dirty="0" err="1" smtClean="0">
                <a:solidFill>
                  <a:srgbClr val="002060"/>
                </a:solidFill>
                <a:latin typeface="Bahnschrift Condensed" panose="020B0502040204020203" pitchFamily="34" charset="0"/>
              </a:rPr>
              <a:t>Mr</a:t>
            </a:r>
            <a:r>
              <a:rPr lang="en-US" sz="2400" dirty="0" smtClean="0">
                <a:solidFill>
                  <a:srgbClr val="002060"/>
                </a:solidFill>
                <a:latin typeface="Bahnschrift Condensed" panose="020B0502040204020203" pitchFamily="34" charset="0"/>
              </a:rPr>
              <a:t> </a:t>
            </a:r>
            <a:r>
              <a:rPr lang="en-US" sz="2400" dirty="0" err="1" smtClean="0">
                <a:solidFill>
                  <a:srgbClr val="002060"/>
                </a:solidFill>
                <a:latin typeface="Bahnschrift Condensed" panose="020B0502040204020203" pitchFamily="34" charset="0"/>
              </a:rPr>
              <a:t>M.Boudhane</a:t>
            </a:r>
            <a:r>
              <a:rPr lang="en-US" sz="2400" dirty="0" smtClean="0">
                <a:solidFill>
                  <a:srgbClr val="002060"/>
                </a:solidFill>
                <a:latin typeface="Bahnschrift Condensed" panose="020B0502040204020203" pitchFamily="34" charset="0"/>
              </a:rPr>
              <a:t> </a:t>
            </a:r>
            <a:endParaRPr lang="en-US" sz="24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  <a:p>
            <a:endParaRPr lang="en-US" sz="2400" dirty="0">
              <a:solidFill>
                <a:srgbClr val="0070C0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080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>
            <a:spLocks/>
          </p:cNvSpPr>
          <p:nvPr/>
        </p:nvSpPr>
        <p:spPr>
          <a:xfrm>
            <a:off x="4572000" y="518474"/>
            <a:ext cx="2856321" cy="6299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400" dirty="0" err="1">
                <a:solidFill>
                  <a:srgbClr val="004274"/>
                </a:solidFill>
                <a:latin typeface="Bahnschrift Condensed" panose="020B0502040204020203" pitchFamily="34" charset="0"/>
              </a:rPr>
              <a:t>Sommaire</a:t>
            </a:r>
            <a:endParaRPr lang="en-US" sz="24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1819375" y="1550524"/>
            <a:ext cx="6909846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Bahnschrift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Introduction au </a:t>
            </a:r>
            <a:r>
              <a:rPr kumimoji="0" lang="en-US" altLang="en-US" sz="2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projet</a:t>
            </a: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Contexte</a:t>
            </a: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en-US" altLang="en-US" sz="2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général</a:t>
            </a: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Problématique</a:t>
            </a: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en-US" altLang="en-US" sz="2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identifiée</a:t>
            </a: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Notre solution : AQUA Monitor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Fonctionnalités</a:t>
            </a: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  <a:r>
              <a:rPr kumimoji="0" lang="en-US" altLang="en-US" sz="2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clés</a:t>
            </a: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Démonstration</a:t>
            </a: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Résultats</a:t>
            </a: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 et performances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Perspectives futures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Bahnschrift" panose="020B0502040204020203" pitchFamily="34" charset="0"/>
              </a:rPr>
              <a:t>Conclusion </a:t>
            </a:r>
          </a:p>
        </p:txBody>
      </p:sp>
      <p:pic>
        <p:nvPicPr>
          <p:cNvPr id="1028" name="Picture 4" descr="Plan Icon Png #174062 - Free Icons Librar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9221" y="2360707"/>
            <a:ext cx="2780836" cy="2780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32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>
            <a:spLocks/>
          </p:cNvSpPr>
          <p:nvPr/>
        </p:nvSpPr>
        <p:spPr>
          <a:xfrm>
            <a:off x="3390165" y="481164"/>
            <a:ext cx="4242062" cy="6299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04274"/>
                </a:solidFill>
                <a:latin typeface="Bahnschrift Condensed" panose="020B0502040204020203" pitchFamily="34" charset="0"/>
              </a:rPr>
              <a:t>Introduction au </a:t>
            </a:r>
            <a:r>
              <a:rPr lang="en-US" sz="4400" dirty="0" err="1">
                <a:solidFill>
                  <a:srgbClr val="004274"/>
                </a:solidFill>
                <a:latin typeface="Bahnschrift Condensed" panose="020B0502040204020203" pitchFamily="34" charset="0"/>
              </a:rPr>
              <a:t>projet</a:t>
            </a:r>
            <a:r>
              <a:rPr lang="en-US" sz="4400" dirty="0">
                <a:solidFill>
                  <a:srgbClr val="004274"/>
                </a:solidFill>
                <a:latin typeface="Bahnschrift Condensed" panose="020B0502040204020203" pitchFamily="34" charset="0"/>
              </a:rPr>
              <a:t> </a:t>
            </a:r>
            <a:endParaRPr lang="en-US" sz="24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367646" y="1663437"/>
            <a:ext cx="7044831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2400" dirty="0">
                <a:latin typeface="Calibri (Corps)"/>
              </a:rPr>
              <a:t>L’exploration sous-marine est essentielle pour comprendre la biodiversité, surveiller les écosystèmes et évaluer l’impact des activités humaines sur les milieux aquatiques. Cependant, observer ces environnements reste difficile à cause de la profondeur, de la turbidité de l’eau et de la diversité des espèces. Les méthodes traditionnelles sont souvent lentes, coûteuses et peu reproductibles. </a:t>
            </a:r>
            <a:r>
              <a:rPr lang="fr-FR" sz="2400" dirty="0" smtClean="0">
                <a:latin typeface="Calibri (Corps)"/>
              </a:rPr>
              <a:t/>
            </a:r>
            <a:br>
              <a:rPr lang="fr-FR" sz="2400" dirty="0" smtClean="0">
                <a:latin typeface="Calibri (Corps)"/>
              </a:rPr>
            </a:br>
            <a:r>
              <a:rPr lang="fr-FR" sz="2400" dirty="0">
                <a:latin typeface="Calibri (Corps)"/>
              </a:rPr>
              <a:t/>
            </a:r>
            <a:br>
              <a:rPr lang="fr-FR" sz="2400" dirty="0">
                <a:latin typeface="Calibri (Corps)"/>
              </a:rPr>
            </a:br>
            <a:r>
              <a:rPr lang="fr-FR" sz="2400" dirty="0" smtClean="0">
                <a:latin typeface="Calibri (Corps)"/>
              </a:rPr>
              <a:t/>
            </a:r>
            <a:br>
              <a:rPr lang="fr-FR" sz="2400" dirty="0" smtClean="0">
                <a:latin typeface="Calibri (Corps)"/>
              </a:rPr>
            </a:br>
            <a:r>
              <a:rPr lang="fr-FR" sz="2400" b="1" dirty="0" smtClean="0">
                <a:solidFill>
                  <a:srgbClr val="C00000"/>
                </a:solidFill>
                <a:latin typeface="Calibri (Corps)"/>
              </a:rPr>
              <a:t>Comment </a:t>
            </a:r>
            <a:r>
              <a:rPr lang="fr-FR" sz="2400" b="1" dirty="0">
                <a:solidFill>
                  <a:srgbClr val="C00000"/>
                </a:solidFill>
                <a:latin typeface="Calibri (Corps)"/>
              </a:rPr>
              <a:t>pourrait-on alors collecter des données fiables, en temps réel, et de manière automatisée pour mieux étudier et protéger l’océan ?</a:t>
            </a:r>
            <a:endParaRPr lang="fr-FR" sz="2400" dirty="0">
              <a:solidFill>
                <a:srgbClr val="C00000"/>
              </a:solidFill>
              <a:latin typeface="Calibri (Corps)"/>
            </a:endParaRPr>
          </a:p>
        </p:txBody>
      </p:sp>
      <p:pic>
        <p:nvPicPr>
          <p:cNvPr id="8194" name="Picture 2" descr="SeaPerch: A robot with a mission | MIT News | Massachusetts Institute of  Technolog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2227" y="2019572"/>
            <a:ext cx="4559773" cy="3039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7098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>
            <a:spLocks/>
          </p:cNvSpPr>
          <p:nvPr/>
        </p:nvSpPr>
        <p:spPr>
          <a:xfrm>
            <a:off x="4336330" y="386498"/>
            <a:ext cx="3591612" cy="6299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400" dirty="0" err="1">
                <a:solidFill>
                  <a:srgbClr val="004274"/>
                </a:solidFill>
                <a:latin typeface="Bahnschrift Condensed" panose="020B0502040204020203" pitchFamily="34" charset="0"/>
              </a:rPr>
              <a:t>Contexte</a:t>
            </a:r>
            <a:r>
              <a:rPr lang="en-US" sz="4400" dirty="0">
                <a:solidFill>
                  <a:srgbClr val="004274"/>
                </a:solidFill>
                <a:latin typeface="Bahnschrift Condensed" panose="020B0502040204020203" pitchFamily="34" charset="0"/>
              </a:rPr>
              <a:t> </a:t>
            </a:r>
            <a:r>
              <a:rPr lang="en-US" sz="4400" dirty="0" err="1">
                <a:solidFill>
                  <a:srgbClr val="004274"/>
                </a:solidFill>
                <a:latin typeface="Bahnschrift Condensed" panose="020B0502040204020203" pitchFamily="34" charset="0"/>
              </a:rPr>
              <a:t>Général</a:t>
            </a:r>
            <a:endParaRPr lang="en-US" sz="24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0" y="2028262"/>
            <a:ext cx="8375715" cy="2751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2400" b="1" dirty="0">
                <a:solidFill>
                  <a:srgbClr val="0070C0"/>
                </a:solidFill>
                <a:latin typeface="Calibri (Corps)"/>
              </a:rPr>
              <a:t>État de l'Art - Exploration </a:t>
            </a:r>
            <a:r>
              <a:rPr lang="fr-FR" sz="2400" b="1" dirty="0" smtClean="0">
                <a:solidFill>
                  <a:srgbClr val="0070C0"/>
                </a:solidFill>
                <a:latin typeface="Calibri (Corps)"/>
              </a:rPr>
              <a:t>Marine</a:t>
            </a:r>
            <a:br>
              <a:rPr lang="fr-FR" sz="2400" b="1" dirty="0" smtClean="0">
                <a:solidFill>
                  <a:srgbClr val="0070C0"/>
                </a:solidFill>
                <a:latin typeface="Calibri (Corps)"/>
              </a:rPr>
            </a:br>
            <a:r>
              <a:rPr lang="fr-FR" sz="2400" b="1" dirty="0">
                <a:solidFill>
                  <a:srgbClr val="0070C0"/>
                </a:solidFill>
                <a:latin typeface="Calibri (Corps)"/>
              </a:rPr>
              <a:t/>
            </a:r>
            <a:br>
              <a:rPr lang="fr-FR" sz="2400" b="1" dirty="0">
                <a:solidFill>
                  <a:srgbClr val="0070C0"/>
                </a:solidFill>
                <a:latin typeface="Calibri (Corps)"/>
              </a:rPr>
            </a:br>
            <a:r>
              <a:rPr lang="fr-FR" sz="2400" b="1" dirty="0">
                <a:solidFill>
                  <a:srgbClr val="0070C0"/>
                </a:solidFill>
                <a:latin typeface="Calibri (Corps)"/>
              </a:rPr>
              <a:t>Défis Actuels </a:t>
            </a:r>
            <a:r>
              <a:rPr lang="fr-FR" sz="2400" b="1" dirty="0" smtClean="0">
                <a:solidFill>
                  <a:srgbClr val="0070C0"/>
                </a:solidFill>
                <a:latin typeface="Calibri (Corps)"/>
              </a:rPr>
              <a:t>:</a:t>
            </a:r>
            <a:r>
              <a:rPr lang="fr-FR" sz="2400" b="1" dirty="0" smtClean="0">
                <a:latin typeface="Calibri (Corps)"/>
              </a:rPr>
              <a:t/>
            </a:r>
            <a:br>
              <a:rPr lang="fr-FR" sz="2400" b="1" dirty="0" smtClean="0">
                <a:latin typeface="Calibri (Corps)"/>
              </a:rPr>
            </a:br>
            <a:r>
              <a:rPr lang="fr-FR" sz="2400" dirty="0">
                <a:latin typeface="Calibri (Corps)"/>
              </a:rPr>
              <a:t/>
            </a:r>
            <a:br>
              <a:rPr lang="fr-FR" sz="2400" dirty="0">
                <a:latin typeface="Calibri (Corps)"/>
              </a:rPr>
            </a:br>
            <a:r>
              <a:rPr lang="fr-FR" sz="2400" dirty="0" smtClean="0">
                <a:latin typeface="Calibri (Corps)"/>
              </a:rPr>
              <a:t>Identification </a:t>
            </a:r>
            <a:r>
              <a:rPr lang="fr-FR" sz="2400" dirty="0">
                <a:latin typeface="Calibri (Corps)"/>
              </a:rPr>
              <a:t>manuelle des espèces → subjectif et lent</a:t>
            </a:r>
            <a:br>
              <a:rPr lang="fr-FR" sz="2400" dirty="0">
                <a:latin typeface="Calibri (Corps)"/>
              </a:rPr>
            </a:br>
            <a:r>
              <a:rPr lang="fr-FR" sz="2400" dirty="0" smtClean="0">
                <a:latin typeface="Calibri (Corps)"/>
              </a:rPr>
              <a:t>Perte </a:t>
            </a:r>
            <a:r>
              <a:rPr lang="fr-FR" sz="2400" dirty="0">
                <a:latin typeface="Calibri (Corps)"/>
              </a:rPr>
              <a:t>d'informations critiques pendant les missions</a:t>
            </a:r>
            <a:br>
              <a:rPr lang="fr-FR" sz="2400" dirty="0">
                <a:latin typeface="Calibri (Corps)"/>
              </a:rPr>
            </a:br>
            <a:r>
              <a:rPr lang="fr-FR" sz="2400" dirty="0" smtClean="0">
                <a:latin typeface="Calibri (Corps)"/>
              </a:rPr>
              <a:t>Équipements </a:t>
            </a:r>
            <a:r>
              <a:rPr lang="fr-FR" sz="2400" dirty="0">
                <a:latin typeface="Calibri (Corps)"/>
              </a:rPr>
              <a:t>scientifiques coûteux (10k€ - 100k€+)</a:t>
            </a:r>
            <a:br>
              <a:rPr lang="fr-FR" sz="2400" dirty="0">
                <a:latin typeface="Calibri (Corps)"/>
              </a:rPr>
            </a:br>
            <a:r>
              <a:rPr lang="fr-FR" sz="2400" dirty="0" smtClean="0">
                <a:latin typeface="Calibri (Corps)"/>
              </a:rPr>
              <a:t>Pollution </a:t>
            </a:r>
            <a:r>
              <a:rPr lang="fr-FR" sz="2400" dirty="0">
                <a:latin typeface="Calibri (Corps)"/>
              </a:rPr>
              <a:t>marine difficile à quantifier</a:t>
            </a:r>
          </a:p>
        </p:txBody>
      </p:sp>
      <p:pic>
        <p:nvPicPr>
          <p:cNvPr id="11266" name="Picture 2" descr="Underwater 2025 : 33 élèves-ingénieurs de Mines Paris - PSL conçoivent un  système sous-marin pour une mission scientifique en Méditerranée - MINES  PARIS - PS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433" y="4240769"/>
            <a:ext cx="3932567" cy="2617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551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>
            <a:spLocks/>
          </p:cNvSpPr>
          <p:nvPr/>
        </p:nvSpPr>
        <p:spPr>
          <a:xfrm>
            <a:off x="4336330" y="386498"/>
            <a:ext cx="3591612" cy="6299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400" dirty="0" err="1">
                <a:solidFill>
                  <a:srgbClr val="004274"/>
                </a:solidFill>
                <a:latin typeface="Bahnschrift Condensed" panose="020B0502040204020203" pitchFamily="34" charset="0"/>
              </a:rPr>
              <a:t>Contexte</a:t>
            </a:r>
            <a:r>
              <a:rPr lang="en-US" sz="4400" dirty="0">
                <a:solidFill>
                  <a:srgbClr val="004274"/>
                </a:solidFill>
                <a:latin typeface="Bahnschrift Condensed" panose="020B0502040204020203" pitchFamily="34" charset="0"/>
              </a:rPr>
              <a:t> </a:t>
            </a:r>
            <a:r>
              <a:rPr lang="en-US" sz="4400" dirty="0" err="1">
                <a:solidFill>
                  <a:srgbClr val="004274"/>
                </a:solidFill>
                <a:latin typeface="Bahnschrift Condensed" panose="020B0502040204020203" pitchFamily="34" charset="0"/>
              </a:rPr>
              <a:t>Général</a:t>
            </a:r>
            <a:endParaRPr lang="en-US" sz="24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1663831" y="1473945"/>
            <a:ext cx="8936610" cy="208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Calibri (Corps)"/>
              </a:rPr>
              <a:t>Technologies </a:t>
            </a:r>
            <a:r>
              <a:rPr lang="en-US" sz="2400" b="1" dirty="0" err="1">
                <a:solidFill>
                  <a:srgbClr val="0070C0"/>
                </a:solidFill>
                <a:latin typeface="Calibri (Corps)"/>
              </a:rPr>
              <a:t>Disponibles</a:t>
            </a:r>
            <a:r>
              <a:rPr lang="en-US" sz="2400" b="1" dirty="0">
                <a:solidFill>
                  <a:srgbClr val="0070C0"/>
                </a:solidFill>
                <a:latin typeface="Calibri (Corps)"/>
              </a:rPr>
              <a:t> </a:t>
            </a:r>
            <a:r>
              <a:rPr lang="en-US" sz="2400" b="1" dirty="0" smtClean="0">
                <a:solidFill>
                  <a:srgbClr val="0070C0"/>
                </a:solidFill>
                <a:latin typeface="Calibri (Corps)"/>
              </a:rPr>
              <a:t>:</a:t>
            </a:r>
            <a:r>
              <a:rPr lang="en-US" sz="2400" b="1" dirty="0" smtClean="0">
                <a:latin typeface="Calibri (Corps)"/>
              </a:rPr>
              <a:t/>
            </a:r>
            <a:br>
              <a:rPr lang="en-US" sz="2400" b="1" dirty="0" smtClean="0">
                <a:latin typeface="Calibri (Corps)"/>
              </a:rPr>
            </a:br>
            <a:r>
              <a:rPr lang="en-US" sz="2400" dirty="0">
                <a:latin typeface="Calibri (Corps)"/>
              </a:rPr>
              <a:t/>
            </a:r>
            <a:br>
              <a:rPr lang="en-US" sz="2400" dirty="0">
                <a:latin typeface="Calibri (Corps)"/>
              </a:rPr>
            </a:br>
            <a:r>
              <a:rPr lang="en-US" sz="2400" dirty="0" smtClean="0">
                <a:latin typeface="Calibri (Corps)"/>
              </a:rPr>
              <a:t>Vision </a:t>
            </a:r>
            <a:r>
              <a:rPr lang="en-US" sz="2400" dirty="0">
                <a:latin typeface="Calibri (Corps)"/>
              </a:rPr>
              <a:t>par </a:t>
            </a:r>
            <a:r>
              <a:rPr lang="en-US" sz="2400" dirty="0" err="1">
                <a:latin typeface="Calibri (Corps)"/>
              </a:rPr>
              <a:t>ordinateur</a:t>
            </a:r>
            <a:r>
              <a:rPr lang="en-US" sz="2400" dirty="0">
                <a:latin typeface="Calibri (Corps)"/>
              </a:rPr>
              <a:t> mature (YOLO, CNN)</a:t>
            </a:r>
            <a:br>
              <a:rPr lang="en-US" sz="2400" dirty="0">
                <a:latin typeface="Calibri (Corps)"/>
              </a:rPr>
            </a:br>
            <a:r>
              <a:rPr lang="en-US" sz="2400" dirty="0" smtClean="0">
                <a:latin typeface="Calibri (Corps)"/>
              </a:rPr>
              <a:t>Hardware </a:t>
            </a:r>
            <a:r>
              <a:rPr lang="en-US" sz="2400" dirty="0" err="1">
                <a:latin typeface="Calibri (Corps)"/>
              </a:rPr>
              <a:t>embarqué</a:t>
            </a:r>
            <a:r>
              <a:rPr lang="en-US" sz="2400" dirty="0">
                <a:latin typeface="Calibri (Corps)"/>
              </a:rPr>
              <a:t> accessible (Raspberry Pi 4/5)</a:t>
            </a:r>
            <a:br>
              <a:rPr lang="en-US" sz="2400" dirty="0">
                <a:latin typeface="Calibri (Corps)"/>
              </a:rPr>
            </a:br>
            <a:r>
              <a:rPr lang="en-US" sz="2400" dirty="0" err="1" smtClean="0">
                <a:latin typeface="Calibri (Corps)"/>
              </a:rPr>
              <a:t>Capteurs</a:t>
            </a:r>
            <a:r>
              <a:rPr lang="en-US" sz="2400" dirty="0" smtClean="0">
                <a:latin typeface="Calibri (Corps)"/>
              </a:rPr>
              <a:t> </a:t>
            </a:r>
            <a:r>
              <a:rPr lang="en-US" sz="2400" dirty="0" err="1">
                <a:latin typeface="Calibri (Corps)"/>
              </a:rPr>
              <a:t>IoT</a:t>
            </a:r>
            <a:r>
              <a:rPr lang="en-US" sz="2400" dirty="0">
                <a:latin typeface="Calibri (Corps)"/>
              </a:rPr>
              <a:t> précis et </a:t>
            </a:r>
            <a:r>
              <a:rPr lang="en-US" sz="2400" dirty="0" err="1">
                <a:latin typeface="Calibri (Corps)"/>
              </a:rPr>
              <a:t>économiques</a:t>
            </a:r>
            <a:r>
              <a:rPr lang="en-US" sz="2400" dirty="0">
                <a:latin typeface="Calibri (Corps)"/>
              </a:rPr>
              <a:t/>
            </a:r>
            <a:br>
              <a:rPr lang="en-US" sz="2400" dirty="0">
                <a:latin typeface="Calibri (Corps)"/>
              </a:rPr>
            </a:br>
            <a:r>
              <a:rPr lang="en-US" sz="2400" dirty="0" smtClean="0">
                <a:latin typeface="Calibri (Corps)"/>
              </a:rPr>
              <a:t>Frameworks </a:t>
            </a:r>
            <a:r>
              <a:rPr lang="en-US" sz="2400" dirty="0">
                <a:latin typeface="Calibri (Corps)"/>
              </a:rPr>
              <a:t>Deep Learning </a:t>
            </a:r>
            <a:r>
              <a:rPr lang="en-US" sz="2400" dirty="0" err="1">
                <a:latin typeface="Calibri (Corps)"/>
              </a:rPr>
              <a:t>optimisés</a:t>
            </a:r>
            <a:r>
              <a:rPr lang="en-US" sz="2400" dirty="0">
                <a:latin typeface="Calibri (Corps)"/>
              </a:rPr>
              <a:t> (</a:t>
            </a:r>
            <a:r>
              <a:rPr lang="en-US" sz="2400" dirty="0" err="1">
                <a:latin typeface="Calibri (Corps)"/>
              </a:rPr>
              <a:t>PyTorch</a:t>
            </a:r>
            <a:r>
              <a:rPr lang="en-US" sz="2400" dirty="0">
                <a:latin typeface="Calibri (Corps)"/>
              </a:rPr>
              <a:t>, ONNX)</a:t>
            </a:r>
          </a:p>
        </p:txBody>
      </p:sp>
      <p:pic>
        <p:nvPicPr>
          <p:cNvPr id="5124" name="Picture 4" descr="Deploying Ultralytics YOLO models on Raspberry Pi devices - Raspberry Pi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71880"/>
            <a:ext cx="3017487" cy="1986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What is PyTorch? - PyImageSearch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1942" y="5346700"/>
            <a:ext cx="2666999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Convolutional Neural Network: [Updated 2024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8975" y="4564898"/>
            <a:ext cx="6423025" cy="229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005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>
            <a:spLocks/>
          </p:cNvSpPr>
          <p:nvPr/>
        </p:nvSpPr>
        <p:spPr>
          <a:xfrm>
            <a:off x="4336330" y="386498"/>
            <a:ext cx="3591612" cy="6299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400" dirty="0" err="1">
                <a:solidFill>
                  <a:srgbClr val="004274"/>
                </a:solidFill>
                <a:latin typeface="Bahnschrift Condensed" panose="020B0502040204020203" pitchFamily="34" charset="0"/>
              </a:rPr>
              <a:t>Contexte</a:t>
            </a:r>
            <a:r>
              <a:rPr lang="en-US" sz="4400" dirty="0">
                <a:solidFill>
                  <a:srgbClr val="004274"/>
                </a:solidFill>
                <a:latin typeface="Bahnschrift Condensed" panose="020B0502040204020203" pitchFamily="34" charset="0"/>
              </a:rPr>
              <a:t> </a:t>
            </a:r>
            <a:r>
              <a:rPr lang="en-US" sz="4400" dirty="0" err="1">
                <a:solidFill>
                  <a:srgbClr val="004274"/>
                </a:solidFill>
                <a:latin typeface="Bahnschrift Condensed" panose="020B0502040204020203" pitchFamily="34" charset="0"/>
              </a:rPr>
              <a:t>Général</a:t>
            </a:r>
            <a:endParaRPr lang="en-US" sz="24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260280" y="2191354"/>
            <a:ext cx="8936610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2400" dirty="0">
                <a:solidFill>
                  <a:srgbClr val="0070C0"/>
                </a:solidFill>
                <a:latin typeface="Calibri (Corps)"/>
              </a:rPr>
              <a:t>Opportunité : </a:t>
            </a:r>
            <a:r>
              <a:rPr lang="fr-FR" sz="2400" dirty="0" smtClean="0">
                <a:latin typeface="Calibri (Corps)"/>
              </a:rPr>
              <a:t/>
            </a:r>
            <a:br>
              <a:rPr lang="fr-FR" sz="2400" dirty="0" smtClean="0">
                <a:latin typeface="Calibri (Corps)"/>
              </a:rPr>
            </a:br>
            <a:r>
              <a:rPr lang="fr-FR" sz="2400" dirty="0">
                <a:latin typeface="Calibri (Corps)"/>
              </a:rPr>
              <a:t/>
            </a:r>
            <a:br>
              <a:rPr lang="fr-FR" sz="2400" dirty="0">
                <a:latin typeface="Calibri (Corps)"/>
              </a:rPr>
            </a:br>
            <a:r>
              <a:rPr lang="fr-FR" sz="2400" dirty="0" smtClean="0">
                <a:latin typeface="Calibri (Corps)"/>
              </a:rPr>
              <a:t>Combiner </a:t>
            </a:r>
            <a:r>
              <a:rPr lang="fr-FR" sz="2400" dirty="0">
                <a:latin typeface="Calibri (Corps)"/>
              </a:rPr>
              <a:t>ces technologies pour créer un système accessible et performant</a:t>
            </a:r>
          </a:p>
        </p:txBody>
      </p:sp>
      <p:pic>
        <p:nvPicPr>
          <p:cNvPr id="4" name="Picture 2" descr="A multitask model for realtime fish detection and segmentation based on  YOLOv5 [PeerJ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0307" y="3737041"/>
            <a:ext cx="5521693" cy="3120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5571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>
            <a:spLocks/>
          </p:cNvSpPr>
          <p:nvPr/>
        </p:nvSpPr>
        <p:spPr>
          <a:xfrm>
            <a:off x="4336330" y="386498"/>
            <a:ext cx="3591612" cy="6299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400" dirty="0" err="1">
                <a:solidFill>
                  <a:srgbClr val="004274"/>
                </a:solidFill>
                <a:latin typeface="Bahnschrift Condensed" panose="020B0502040204020203" pitchFamily="34" charset="0"/>
              </a:rPr>
              <a:t>Problématique</a:t>
            </a:r>
            <a:endParaRPr lang="en-US" sz="24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1545997" y="2301829"/>
            <a:ext cx="893661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2800" b="1" dirty="0"/>
              <a:t>1. Détection Manuelle </a:t>
            </a:r>
            <a:r>
              <a:rPr lang="fr-FR" sz="2800" b="1" dirty="0" smtClean="0"/>
              <a:t>Insuffisante</a:t>
            </a:r>
            <a:r>
              <a:rPr lang="fr-FR" sz="2800" dirty="0"/>
              <a:t/>
            </a:r>
            <a:br>
              <a:rPr lang="fr-FR" sz="2800" dirty="0"/>
            </a:br>
            <a:r>
              <a:rPr lang="fr-FR" sz="2800" b="1" dirty="0"/>
              <a:t>2. Absence de Traçabilité</a:t>
            </a:r>
            <a:r>
              <a:rPr lang="fr-FR" sz="2800" dirty="0"/>
              <a:t/>
            </a:r>
            <a:br>
              <a:rPr lang="fr-FR" sz="2800" dirty="0"/>
            </a:br>
            <a:r>
              <a:rPr lang="fr-FR" sz="2800" b="1" dirty="0"/>
              <a:t>3. Monitoring Environnemental </a:t>
            </a:r>
            <a:r>
              <a:rPr lang="fr-FR" sz="2800" b="1" dirty="0" smtClean="0"/>
              <a:t>Limité</a:t>
            </a:r>
            <a:r>
              <a:rPr lang="fr-FR" sz="2800" dirty="0"/>
              <a:t/>
            </a:r>
            <a:br>
              <a:rPr lang="fr-FR" sz="2800" dirty="0"/>
            </a:br>
            <a:r>
              <a:rPr lang="fr-FR" sz="2800" b="1" dirty="0"/>
              <a:t>4. Analyse Post-Mission </a:t>
            </a:r>
            <a:r>
              <a:rPr lang="fr-FR" sz="2800" b="1" dirty="0" smtClean="0"/>
              <a:t>Complexe</a:t>
            </a:r>
            <a:r>
              <a:rPr lang="fr-FR" sz="2800" dirty="0"/>
              <a:t/>
            </a:r>
            <a:br>
              <a:rPr lang="fr-FR" sz="2800" dirty="0"/>
            </a:br>
            <a:endParaRPr lang="fr-FR" sz="2800" dirty="0"/>
          </a:p>
        </p:txBody>
      </p:sp>
      <p:sp>
        <p:nvSpPr>
          <p:cNvPr id="3" name="Rectangle 2"/>
          <p:cNvSpPr/>
          <p:nvPr/>
        </p:nvSpPr>
        <p:spPr>
          <a:xfrm>
            <a:off x="608028" y="4579984"/>
            <a:ext cx="1104821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 smtClean="0">
                <a:solidFill>
                  <a:srgbClr val="C00000"/>
                </a:solidFill>
              </a:rPr>
              <a:t>Question </a:t>
            </a:r>
            <a:r>
              <a:rPr lang="fr-FR" sz="2800" b="1" dirty="0">
                <a:solidFill>
                  <a:srgbClr val="C00000"/>
                </a:solidFill>
              </a:rPr>
              <a:t>de </a:t>
            </a:r>
            <a:r>
              <a:rPr lang="fr-FR" sz="2800" b="1" dirty="0" smtClean="0">
                <a:solidFill>
                  <a:srgbClr val="C00000"/>
                </a:solidFill>
              </a:rPr>
              <a:t>Recherche</a:t>
            </a:r>
          </a:p>
          <a:p>
            <a:endParaRPr lang="fr-FR" sz="2800" b="1" dirty="0">
              <a:solidFill>
                <a:srgbClr val="C00000"/>
              </a:solidFill>
            </a:endParaRPr>
          </a:p>
          <a:p>
            <a:r>
              <a:rPr lang="fr-FR" sz="2800" i="1" dirty="0"/>
              <a:t>Comment enrichir l'expérience </a:t>
            </a:r>
            <a:r>
              <a:rPr lang="fr-FR" sz="2800" i="1" dirty="0" err="1"/>
              <a:t>SeaPerch</a:t>
            </a:r>
            <a:r>
              <a:rPr lang="fr-FR" sz="2800" i="1" dirty="0"/>
              <a:t> avec des capacités de Computer Vision pour une exploration sous-marine scientifiquement exploitable </a:t>
            </a:r>
            <a:r>
              <a:rPr lang="fr-FR" sz="2800" b="1" dirty="0">
                <a:solidFill>
                  <a:srgbClr val="C00000"/>
                </a:solidFill>
              </a:rPr>
              <a:t>❓</a:t>
            </a:r>
            <a:endParaRPr lang="fr-FR" sz="2800" dirty="0"/>
          </a:p>
        </p:txBody>
      </p:sp>
      <p:pic>
        <p:nvPicPr>
          <p:cNvPr id="3074" name="Picture 2" descr="Homepage - SeaPerch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804" y="2301829"/>
            <a:ext cx="4523196" cy="3008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9112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>
            <a:spLocks/>
          </p:cNvSpPr>
          <p:nvPr/>
        </p:nvSpPr>
        <p:spPr>
          <a:xfrm>
            <a:off x="3586900" y="527900"/>
            <a:ext cx="4854804" cy="6299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04274"/>
                </a:solidFill>
                <a:latin typeface="Bahnschrift Condensed" panose="020B0502040204020203" pitchFamily="34" charset="0"/>
              </a:rPr>
              <a:t>Solution - AQUA Monitor</a:t>
            </a:r>
            <a:endParaRPr lang="en-US" sz="24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33427" y="2249830"/>
            <a:ext cx="944879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Architecture </a:t>
            </a:r>
            <a:r>
              <a:rPr lang="en-US" sz="2000" b="1" dirty="0" err="1" smtClean="0"/>
              <a:t>Globale</a:t>
            </a:r>
            <a:r>
              <a:rPr lang="en-US" sz="2000" b="1" dirty="0" smtClean="0"/>
              <a:t> :</a:t>
            </a:r>
          </a:p>
          <a:p>
            <a:endParaRPr lang="en-US" sz="2000" b="1" dirty="0"/>
          </a:p>
          <a:p>
            <a:r>
              <a:rPr lang="en-US" sz="2000" b="1" dirty="0" smtClean="0"/>
              <a:t>AQUA </a:t>
            </a:r>
            <a:r>
              <a:rPr lang="en-US" sz="2000" b="1" dirty="0"/>
              <a:t>Monitor = </a:t>
            </a:r>
            <a:r>
              <a:rPr lang="en-US" sz="2000" b="1" dirty="0" err="1"/>
              <a:t>SeaPerch</a:t>
            </a:r>
            <a:r>
              <a:rPr lang="en-US" sz="2000" b="1" dirty="0"/>
              <a:t> + Ensemble YOLO + </a:t>
            </a:r>
            <a:r>
              <a:rPr lang="en-US" sz="2000" b="1" dirty="0" err="1"/>
              <a:t>IoT</a:t>
            </a:r>
            <a:r>
              <a:rPr lang="en-US" sz="2000" b="1" dirty="0"/>
              <a:t> Sensors + Web Dashboard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86186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>
            <a:spLocks/>
          </p:cNvSpPr>
          <p:nvPr/>
        </p:nvSpPr>
        <p:spPr>
          <a:xfrm>
            <a:off x="3586900" y="527900"/>
            <a:ext cx="4854804" cy="6299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04274"/>
                </a:solidFill>
                <a:latin typeface="Bahnschrift Condensed" panose="020B0502040204020203" pitchFamily="34" charset="0"/>
              </a:rPr>
              <a:t>Solution - AQUA Monitor</a:t>
            </a:r>
            <a:endParaRPr lang="en-US" sz="24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33427" y="2249830"/>
            <a:ext cx="944879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 smtClean="0"/>
              <a:t>1.Système </a:t>
            </a:r>
            <a:r>
              <a:rPr lang="fr-FR" sz="2000" b="1" dirty="0"/>
              <a:t>de Vision (3 Modèles YOLO) </a:t>
            </a:r>
            <a:endParaRPr lang="fr-FR" sz="2000" b="1" dirty="0" smtClean="0"/>
          </a:p>
          <a:p>
            <a:endParaRPr lang="fr-FR" sz="2000" b="1" dirty="0"/>
          </a:p>
          <a:p>
            <a:r>
              <a:rPr lang="fr-FR" sz="2000" b="1" dirty="0" err="1" smtClean="0"/>
              <a:t>fish_detector</a:t>
            </a:r>
            <a:r>
              <a:rPr lang="fr-FR" sz="2000" b="1" dirty="0" smtClean="0"/>
              <a:t> </a:t>
            </a:r>
            <a:r>
              <a:rPr lang="fr-FR" sz="2000" b="1" dirty="0"/>
              <a:t>→ Détection d'espèces de poissons </a:t>
            </a:r>
            <a:endParaRPr lang="fr-FR" sz="2000" b="1" dirty="0" smtClean="0"/>
          </a:p>
          <a:p>
            <a:r>
              <a:rPr lang="fr-FR" sz="2000" b="1" dirty="0" err="1" smtClean="0"/>
              <a:t>marine_detector</a:t>
            </a:r>
            <a:r>
              <a:rPr lang="fr-FR" sz="2000" b="1" dirty="0" smtClean="0"/>
              <a:t> </a:t>
            </a:r>
            <a:r>
              <a:rPr lang="fr-FR" sz="2000" b="1" dirty="0"/>
              <a:t>→ Détection plantes/coraux </a:t>
            </a:r>
            <a:endParaRPr lang="fr-FR" sz="2000" b="1" dirty="0" smtClean="0"/>
          </a:p>
          <a:p>
            <a:r>
              <a:rPr lang="fr-FR" sz="2000" b="1" dirty="0" err="1" smtClean="0"/>
              <a:t>waste_detector</a:t>
            </a:r>
            <a:r>
              <a:rPr lang="fr-FR" sz="2000" b="1" dirty="0" smtClean="0"/>
              <a:t> </a:t>
            </a:r>
            <a:r>
              <a:rPr lang="fr-FR" sz="2000" b="1" dirty="0"/>
              <a:t>→ Détection pollution/déchets</a:t>
            </a:r>
            <a:endParaRPr lang="en-US" sz="2000" dirty="0"/>
          </a:p>
        </p:txBody>
      </p:sp>
      <p:pic>
        <p:nvPicPr>
          <p:cNvPr id="21506" name="Picture 2" descr="Frontiers | Automated Detection, Classification and Counting of Fish in  Fish Passages With Deep Learn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50036"/>
            <a:ext cx="3441700" cy="2307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8" name="Picture 4" descr="Application of Convolutional Neural Network (CNN) to Recognize Ship  Structur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848" y="4493806"/>
            <a:ext cx="4160100" cy="2420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10" name="Picture 6" descr="Automatic detection of seafloor marine litter using towed camera images and  deep learning - ScienceDirec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0097" y="4550036"/>
            <a:ext cx="4051903" cy="2307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793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>
            <a:spLocks/>
          </p:cNvSpPr>
          <p:nvPr/>
        </p:nvSpPr>
        <p:spPr>
          <a:xfrm>
            <a:off x="3586900" y="527900"/>
            <a:ext cx="4854804" cy="6299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04274"/>
                </a:solidFill>
                <a:latin typeface="Bahnschrift Condensed" panose="020B0502040204020203" pitchFamily="34" charset="0"/>
              </a:rPr>
              <a:t>Solution - AQUA Monitor</a:t>
            </a:r>
            <a:endParaRPr lang="en-US" sz="24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33427" y="2249830"/>
            <a:ext cx="944879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/>
              <a:t>2. Capteurs Environnementaux (8 paramètres</a:t>
            </a:r>
            <a:r>
              <a:rPr lang="fr-FR" sz="2000" b="1" dirty="0" smtClean="0"/>
              <a:t>)</a:t>
            </a:r>
          </a:p>
          <a:p>
            <a:endParaRPr lang="fr-FR" sz="2000" dirty="0"/>
          </a:p>
          <a:p>
            <a:r>
              <a:rPr lang="fr-FR" sz="2000" dirty="0"/>
              <a:t>Température, pH, salinité, turbidité, luminosité, pression, profondeur, humidité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970" y="4159581"/>
            <a:ext cx="9671256" cy="269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136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>
            <a:spLocks/>
          </p:cNvSpPr>
          <p:nvPr/>
        </p:nvSpPr>
        <p:spPr>
          <a:xfrm>
            <a:off x="3586900" y="527900"/>
            <a:ext cx="4854804" cy="6299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04274"/>
                </a:solidFill>
                <a:latin typeface="Bahnschrift Condensed" panose="020B0502040204020203" pitchFamily="34" charset="0"/>
              </a:rPr>
              <a:t>Solution - AQUA Monitor</a:t>
            </a:r>
            <a:endParaRPr lang="en-US" sz="24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33427" y="2249830"/>
            <a:ext cx="944879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/>
              <a:t>3. </a:t>
            </a:r>
            <a:r>
              <a:rPr lang="fr-FR" sz="2000" b="1" dirty="0" err="1"/>
              <a:t>Backend</a:t>
            </a:r>
            <a:r>
              <a:rPr lang="fr-FR" sz="2000" b="1" dirty="0"/>
              <a:t> Intelligence (</a:t>
            </a:r>
            <a:r>
              <a:rPr lang="fr-FR" sz="2000" b="1" dirty="0" err="1"/>
              <a:t>Flask</a:t>
            </a:r>
            <a:r>
              <a:rPr lang="fr-FR" sz="2000" b="1" dirty="0"/>
              <a:t>/Python</a:t>
            </a:r>
            <a:r>
              <a:rPr lang="fr-FR" sz="2000" b="1" dirty="0" smtClean="0"/>
              <a:t>)</a:t>
            </a:r>
          </a:p>
          <a:p>
            <a:endParaRPr lang="fr-FR" sz="2000" dirty="0"/>
          </a:p>
          <a:p>
            <a:r>
              <a:rPr lang="fr-FR" sz="2000" dirty="0"/>
              <a:t>API </a:t>
            </a:r>
            <a:r>
              <a:rPr lang="fr-FR" sz="2000" dirty="0" err="1"/>
              <a:t>RESTful</a:t>
            </a:r>
            <a:r>
              <a:rPr lang="fr-FR" sz="2000" dirty="0"/>
              <a:t> pour communication</a:t>
            </a:r>
          </a:p>
          <a:p>
            <a:r>
              <a:rPr lang="fr-FR" sz="2000" dirty="0"/>
              <a:t>Base </a:t>
            </a:r>
            <a:r>
              <a:rPr lang="fr-FR" sz="2000" dirty="0" err="1"/>
              <a:t>SQLite</a:t>
            </a:r>
            <a:r>
              <a:rPr lang="fr-FR" sz="2000" dirty="0"/>
              <a:t> pour persistance</a:t>
            </a:r>
          </a:p>
          <a:p>
            <a:r>
              <a:rPr lang="fr-FR" sz="2000" dirty="0"/>
              <a:t>Traitement </a:t>
            </a:r>
            <a:r>
              <a:rPr lang="fr-FR" sz="2000" dirty="0" err="1"/>
              <a:t>OpenCV</a:t>
            </a:r>
            <a:r>
              <a:rPr lang="fr-FR" sz="2000" dirty="0"/>
              <a:t> en temps réel</a:t>
            </a:r>
          </a:p>
        </p:txBody>
      </p:sp>
      <p:pic>
        <p:nvPicPr>
          <p:cNvPr id="19458" name="Picture 2" descr="Flask - Full Stack Pyth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087973"/>
            <a:ext cx="3886200" cy="1539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 descr="File:SQLite370.svg - Wikimedia Commo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4705" y="4995615"/>
            <a:ext cx="3936999" cy="1862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2" name="Picture 6" descr="Designing Elegant RESTful APIs: A Comprehensive Guide | by Abhisek Kar |  Level Up Codi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2075" y="4760887"/>
            <a:ext cx="5143500" cy="1866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6458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>
            <a:spLocks/>
          </p:cNvSpPr>
          <p:nvPr/>
        </p:nvSpPr>
        <p:spPr>
          <a:xfrm>
            <a:off x="3586900" y="527900"/>
            <a:ext cx="4854804" cy="6299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04274"/>
                </a:solidFill>
                <a:latin typeface="Bahnschrift Condensed" panose="020B0502040204020203" pitchFamily="34" charset="0"/>
              </a:rPr>
              <a:t>Solution - AQUA Monitor</a:t>
            </a:r>
            <a:endParaRPr lang="en-US" sz="24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96848" y="1996911"/>
            <a:ext cx="944879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4. Frontend Dashboard (Next.js/React</a:t>
            </a:r>
            <a:r>
              <a:rPr lang="en-US" sz="2400" b="1" dirty="0" smtClean="0"/>
              <a:t>)</a:t>
            </a:r>
          </a:p>
          <a:p>
            <a:endParaRPr lang="en-US" sz="2400" dirty="0"/>
          </a:p>
          <a:p>
            <a:r>
              <a:rPr lang="en-US" sz="2400" dirty="0" err="1"/>
              <a:t>Visualisations</a:t>
            </a:r>
            <a:r>
              <a:rPr lang="en-US" sz="2400" dirty="0"/>
              <a:t> interactives (</a:t>
            </a:r>
            <a:r>
              <a:rPr lang="en-US" sz="2400" dirty="0" err="1"/>
              <a:t>Recharts</a:t>
            </a:r>
            <a:r>
              <a:rPr lang="en-US" sz="2400" dirty="0"/>
              <a:t>)</a:t>
            </a:r>
          </a:p>
          <a:p>
            <a:r>
              <a:rPr lang="en-US" sz="2400" dirty="0"/>
              <a:t>Streaming </a:t>
            </a:r>
            <a:r>
              <a:rPr lang="en-US" sz="2400" dirty="0" err="1"/>
              <a:t>vidéo</a:t>
            </a:r>
            <a:r>
              <a:rPr lang="en-US" sz="2400" dirty="0"/>
              <a:t> avec annotations</a:t>
            </a:r>
          </a:p>
          <a:p>
            <a:r>
              <a:rPr lang="en-US" sz="2400" dirty="0"/>
              <a:t>Analytics et exports</a:t>
            </a:r>
          </a:p>
        </p:txBody>
      </p:sp>
      <p:pic>
        <p:nvPicPr>
          <p:cNvPr id="18434" name="Picture 2" descr="React (software) - Wikipe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627" y="4364266"/>
            <a:ext cx="2705679" cy="2493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 descr="Next.js Testing - testRigor AI-Based Automated Testing Too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3591" y="4445448"/>
            <a:ext cx="8551154" cy="2412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9324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>
            <a:spLocks/>
          </p:cNvSpPr>
          <p:nvPr/>
        </p:nvSpPr>
        <p:spPr>
          <a:xfrm>
            <a:off x="3298401" y="527900"/>
            <a:ext cx="5595200" cy="6299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400" dirty="0" smtClean="0">
                <a:solidFill>
                  <a:srgbClr val="004274"/>
                </a:solidFill>
                <a:latin typeface="Bahnschrift Condensed" panose="020B0502040204020203" pitchFamily="34" charset="0"/>
              </a:rPr>
              <a:t>Architecture du  </a:t>
            </a:r>
            <a:r>
              <a:rPr lang="en-US" sz="4400" dirty="0" err="1">
                <a:solidFill>
                  <a:srgbClr val="004274"/>
                </a:solidFill>
                <a:latin typeface="Bahnschrift Condensed" panose="020B0502040204020203" pitchFamily="34" charset="0"/>
              </a:rPr>
              <a:t>Système</a:t>
            </a:r>
            <a:endParaRPr lang="en-US" sz="24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457988"/>
            <a:ext cx="12192000" cy="486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200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>
            <a:spLocks/>
          </p:cNvSpPr>
          <p:nvPr/>
        </p:nvSpPr>
        <p:spPr>
          <a:xfrm>
            <a:off x="2560163" y="546754"/>
            <a:ext cx="7395326" cy="6299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04274"/>
                </a:solidFill>
                <a:latin typeface="Bahnschrift Condensed" panose="020B0502040204020203" pitchFamily="34" charset="0"/>
              </a:rPr>
              <a:t>Architecture YOLO - </a:t>
            </a:r>
            <a:r>
              <a:rPr lang="en-US" sz="4400" dirty="0" err="1">
                <a:solidFill>
                  <a:srgbClr val="004274"/>
                </a:solidFill>
                <a:latin typeface="Bahnschrift Condensed" panose="020B0502040204020203" pitchFamily="34" charset="0"/>
              </a:rPr>
              <a:t>Vue</a:t>
            </a:r>
            <a:r>
              <a:rPr lang="en-US" sz="4400" dirty="0">
                <a:solidFill>
                  <a:srgbClr val="004274"/>
                </a:solidFill>
                <a:latin typeface="Bahnschrift Condensed" panose="020B0502040204020203" pitchFamily="34" charset="0"/>
              </a:rPr>
              <a:t> </a:t>
            </a:r>
            <a:r>
              <a:rPr lang="en-US" sz="4400" dirty="0" err="1">
                <a:solidFill>
                  <a:srgbClr val="004274"/>
                </a:solidFill>
                <a:latin typeface="Bahnschrift Condensed" panose="020B0502040204020203" pitchFamily="34" charset="0"/>
              </a:rPr>
              <a:t>d'Ensemble</a:t>
            </a:r>
            <a:endParaRPr lang="en-US" sz="24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990" y="1401139"/>
            <a:ext cx="10273671" cy="447176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51" y="5802036"/>
            <a:ext cx="7370466" cy="768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6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>
            <a:spLocks/>
          </p:cNvSpPr>
          <p:nvPr/>
        </p:nvSpPr>
        <p:spPr>
          <a:xfrm>
            <a:off x="1830764" y="273377"/>
            <a:ext cx="8187965" cy="6299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fr-FR" sz="4400" dirty="0">
                <a:solidFill>
                  <a:srgbClr val="004274"/>
                </a:solidFill>
                <a:latin typeface="Bahnschrift Condensed" panose="020B0502040204020203" pitchFamily="34" charset="0"/>
              </a:rPr>
              <a:t>Matrice de confusion - </a:t>
            </a:r>
            <a:r>
              <a:rPr lang="fr-FR" sz="4400" dirty="0" err="1" smtClean="0">
                <a:solidFill>
                  <a:srgbClr val="004274"/>
                </a:solidFill>
                <a:latin typeface="Bahnschrift Condensed" panose="020B0502040204020203" pitchFamily="34" charset="0"/>
              </a:rPr>
              <a:t>fish</a:t>
            </a:r>
            <a:r>
              <a:rPr lang="fr-FR" sz="4400" dirty="0" smtClean="0">
                <a:solidFill>
                  <a:srgbClr val="004274"/>
                </a:solidFill>
                <a:latin typeface="Bahnschrift Condensed" panose="020B0502040204020203" pitchFamily="34" charset="0"/>
              </a:rPr>
              <a:t> </a:t>
            </a:r>
            <a:r>
              <a:rPr lang="fr-FR" sz="4400" dirty="0">
                <a:solidFill>
                  <a:srgbClr val="004274"/>
                </a:solidFill>
                <a:latin typeface="Bahnschrift Condensed" panose="020B0502040204020203" pitchFamily="34" charset="0"/>
              </a:rPr>
              <a:t>Detector</a:t>
            </a:r>
            <a:endParaRPr lang="en-US" sz="24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629" y="1148431"/>
            <a:ext cx="7890236" cy="591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855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>
            <a:spLocks/>
          </p:cNvSpPr>
          <p:nvPr/>
        </p:nvSpPr>
        <p:spPr>
          <a:xfrm>
            <a:off x="3148553" y="273377"/>
            <a:ext cx="6155703" cy="6299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400" dirty="0" err="1">
                <a:solidFill>
                  <a:srgbClr val="004274"/>
                </a:solidFill>
                <a:latin typeface="Bahnschrift Condensed" panose="020B0502040204020203" pitchFamily="34" charset="0"/>
              </a:rPr>
              <a:t>Résultats</a:t>
            </a:r>
            <a:r>
              <a:rPr lang="en-US" sz="4400" dirty="0">
                <a:solidFill>
                  <a:srgbClr val="004274"/>
                </a:solidFill>
                <a:latin typeface="Bahnschrift Condensed" panose="020B0502040204020203" pitchFamily="34" charset="0"/>
              </a:rPr>
              <a:t> - </a:t>
            </a:r>
            <a:r>
              <a:rPr lang="en-US" sz="4400" dirty="0" smtClean="0">
                <a:solidFill>
                  <a:srgbClr val="004274"/>
                </a:solidFill>
                <a:latin typeface="Bahnschrift Condensed" panose="020B0502040204020203" pitchFamily="34" charset="0"/>
              </a:rPr>
              <a:t>fish </a:t>
            </a:r>
            <a:r>
              <a:rPr lang="en-US" sz="4400" dirty="0">
                <a:solidFill>
                  <a:srgbClr val="004274"/>
                </a:solidFill>
                <a:latin typeface="Bahnschrift Condensed" panose="020B0502040204020203" pitchFamily="34" charset="0"/>
              </a:rPr>
              <a:t>Detector</a:t>
            </a:r>
            <a:endParaRPr lang="en-US" sz="24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062" y="1030658"/>
            <a:ext cx="11654683" cy="582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001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>
            <a:spLocks/>
          </p:cNvSpPr>
          <p:nvPr/>
        </p:nvSpPr>
        <p:spPr>
          <a:xfrm>
            <a:off x="2584515" y="273377"/>
            <a:ext cx="7447175" cy="6299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fr-FR" sz="4400" dirty="0">
                <a:solidFill>
                  <a:srgbClr val="004274"/>
                </a:solidFill>
                <a:latin typeface="Bahnschrift Condensed" panose="020B0502040204020203" pitchFamily="34" charset="0"/>
              </a:rPr>
              <a:t>Matrice de confusion - </a:t>
            </a:r>
            <a:r>
              <a:rPr lang="fr-FR" sz="4400" dirty="0" err="1">
                <a:solidFill>
                  <a:srgbClr val="004274"/>
                </a:solidFill>
                <a:latin typeface="Bahnschrift Condensed" panose="020B0502040204020203" pitchFamily="34" charset="0"/>
              </a:rPr>
              <a:t>Waste</a:t>
            </a:r>
            <a:r>
              <a:rPr lang="fr-FR" sz="4400" dirty="0">
                <a:solidFill>
                  <a:srgbClr val="004274"/>
                </a:solidFill>
                <a:latin typeface="Bahnschrift Condensed" panose="020B0502040204020203" pitchFamily="34" charset="0"/>
              </a:rPr>
              <a:t> Detector</a:t>
            </a:r>
            <a:endParaRPr lang="en-US" sz="24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1117" y="1150070"/>
            <a:ext cx="7610573" cy="57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496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>
            <a:spLocks/>
          </p:cNvSpPr>
          <p:nvPr/>
        </p:nvSpPr>
        <p:spPr>
          <a:xfrm>
            <a:off x="3148553" y="273377"/>
            <a:ext cx="6155703" cy="6299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400" dirty="0" err="1">
                <a:solidFill>
                  <a:srgbClr val="004274"/>
                </a:solidFill>
                <a:latin typeface="Bahnschrift Condensed" panose="020B0502040204020203" pitchFamily="34" charset="0"/>
              </a:rPr>
              <a:t>Résultats</a:t>
            </a:r>
            <a:r>
              <a:rPr lang="en-US" sz="4400" dirty="0">
                <a:solidFill>
                  <a:srgbClr val="004274"/>
                </a:solidFill>
                <a:latin typeface="Bahnschrift Condensed" panose="020B0502040204020203" pitchFamily="34" charset="0"/>
              </a:rPr>
              <a:t> - Waste Detector</a:t>
            </a:r>
            <a:endParaRPr lang="en-US" sz="24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062" y="1030658"/>
            <a:ext cx="11654683" cy="582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680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>
            <a:spLocks/>
          </p:cNvSpPr>
          <p:nvPr/>
        </p:nvSpPr>
        <p:spPr>
          <a:xfrm>
            <a:off x="3893270" y="424206"/>
            <a:ext cx="4157221" cy="6299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400" dirty="0" smtClean="0">
                <a:solidFill>
                  <a:srgbClr val="004274"/>
                </a:solidFill>
                <a:latin typeface="Bahnschrift Condensed" panose="020B0502040204020203" pitchFamily="34" charset="0"/>
              </a:rPr>
              <a:t>Perspectives futures</a:t>
            </a:r>
            <a:endParaRPr lang="en-US" sz="24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2739209"/>
            <a:ext cx="874071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Optimisation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 des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modèles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 :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amélioration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précision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 et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vitesse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 des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détections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Extension des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capteurs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 :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intégration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 de nouveaux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paramètres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environnementaux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Autonomie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 du ROV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 : navigation et exploration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automatiques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Analyse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avancée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 :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corrélations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espèces-environnement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 et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prédictions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Diffusion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scientifique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 :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plateforme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 accessible pour la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recherche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 et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l’éducation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(Corps)"/>
              </a:rPr>
              <a:t>.</a:t>
            </a:r>
          </a:p>
        </p:txBody>
      </p:sp>
      <p:pic>
        <p:nvPicPr>
          <p:cNvPr id="22532" name="Picture 4" descr="Perspective - Free education ic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0046" y="1904999"/>
            <a:ext cx="2861954" cy="2861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702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/>
          <p:cNvSpPr txBox="1">
            <a:spLocks/>
          </p:cNvSpPr>
          <p:nvPr/>
        </p:nvSpPr>
        <p:spPr>
          <a:xfrm>
            <a:off x="2940770" y="1783106"/>
            <a:ext cx="6317530" cy="28142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600" dirty="0" smtClean="0">
                <a:solidFill>
                  <a:srgbClr val="004274"/>
                </a:solidFill>
                <a:latin typeface="Bahnschrift Condensed" panose="020B0502040204020203" pitchFamily="34" charset="0"/>
              </a:rPr>
              <a:t>Merci !</a:t>
            </a:r>
            <a:endParaRPr lang="en-US" sz="8000" dirty="0">
              <a:solidFill>
                <a:srgbClr val="002060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944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366</Words>
  <Application>Microsoft Office PowerPoint</Application>
  <PresentationFormat>Grand écran</PresentationFormat>
  <Paragraphs>72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7" baseType="lpstr">
      <vt:lpstr>Arial</vt:lpstr>
      <vt:lpstr>Bahnschrift</vt:lpstr>
      <vt:lpstr>Bahnschrift Condensed</vt:lpstr>
      <vt:lpstr>Calibri</vt:lpstr>
      <vt:lpstr>Calibri (Corps)</vt:lpstr>
      <vt:lpstr>Calibri Light</vt:lpstr>
      <vt:lpstr>Thème Office</vt:lpstr>
      <vt:lpstr>AQUA Monitor Système Intelligent de Détection et Monitoring Sous-Marin SeaPerch</vt:lpstr>
      <vt:lpstr> Introduction au projet  Contexte général  Problématique identifiée  Notre solution : AQUA Monitor   Fonctionnalités clés  Démonstration  Résultats et performances  Perspectives futures  Conclusion </vt:lpstr>
      <vt:lpstr>L’exploration sous-marine est essentielle pour comprendre la biodiversité, surveiller les écosystèmes et évaluer l’impact des activités humaines sur les milieux aquatiques. Cependant, observer ces environnements reste difficile à cause de la profondeur, de la turbidité de l’eau et de la diversité des espèces. Les méthodes traditionnelles sont souvent lentes, coûteuses et peu reproductibles.    Comment pourrait-on alors collecter des données fiables, en temps réel, et de manière automatisée pour mieux étudier et protéger l’océan ?</vt:lpstr>
      <vt:lpstr>État de l'Art - Exploration Marine  Défis Actuels :  Identification manuelle des espèces → subjectif et lent Perte d'informations critiques pendant les missions Équipements scientifiques coûteux (10k€ - 100k€+) Pollution marine difficile à quantifier</vt:lpstr>
      <vt:lpstr>Technologies Disponibles :  Vision par ordinateur mature (YOLO, CNN) Hardware embarqué accessible (Raspberry Pi 4/5) Capteurs IoT précis et économiques Frameworks Deep Learning optimisés (PyTorch, ONNX)</vt:lpstr>
      <vt:lpstr>Opportunité :   Combiner ces technologies pour créer un système accessible et performant</vt:lpstr>
      <vt:lpstr>1. Détection Manuelle Insuffisante 2. Absence de Traçabilité 3. Monitoring Environnemental Limité 4. Analyse Post-Mission Complexe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and Deployment of a Scalable AI-Powered Document-Processing System using : OCR &amp; NLP</dc:title>
  <dc:creator>HP</dc:creator>
  <cp:lastModifiedBy>HP</cp:lastModifiedBy>
  <cp:revision>22</cp:revision>
  <dcterms:created xsi:type="dcterms:W3CDTF">2025-10-07T12:48:25Z</dcterms:created>
  <dcterms:modified xsi:type="dcterms:W3CDTF">2025-12-02T15:16:55Z</dcterms:modified>
</cp:coreProperties>
</file>